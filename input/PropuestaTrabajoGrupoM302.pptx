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A+L4bjST4IKgOPS6uw1oTrcDK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7db589d05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17db589d05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7db589d05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a582f6c91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a582f6c91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a582f6c91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582f6c91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aa582f6c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aa582f6c9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a582f6c91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aa582f6c9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aa582f6c91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1143000" y="112453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7882128" y="6356350"/>
            <a:ext cx="633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5"/>
          <p:cNvCxnSpPr/>
          <p:nvPr/>
        </p:nvCxnSpPr>
        <p:spPr>
          <a:xfrm>
            <a:off x="0" y="6190488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46337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33845" y="45720"/>
            <a:ext cx="78867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28650" y="1042417"/>
            <a:ext cx="7886700" cy="50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7955279" y="6356351"/>
            <a:ext cx="5652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46337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633845" y="237744"/>
            <a:ext cx="78867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633845" y="1170433"/>
            <a:ext cx="7886700" cy="4898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7845551" y="6356351"/>
            <a:ext cx="6749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05671"/>
            <a:ext cx="2975106" cy="6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"/>
          <p:cNvSpPr txBox="1"/>
          <p:nvPr>
            <p:ph idx="11" type="ftr"/>
          </p:nvPr>
        </p:nvSpPr>
        <p:spPr>
          <a:xfrm>
            <a:off x="3028950" y="6356351"/>
            <a:ext cx="46337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" name="Google Shape;16;p4"/>
          <p:cNvCxnSpPr/>
          <p:nvPr/>
        </p:nvCxnSpPr>
        <p:spPr>
          <a:xfrm>
            <a:off x="0" y="6190488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4"/>
          <p:cNvCxnSpPr/>
          <p:nvPr/>
        </p:nvCxnSpPr>
        <p:spPr>
          <a:xfrm>
            <a:off x="0" y="8961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c.europa.eu/research/participants/documents/downloadPublic?appId=PPGMS&amp;documentIds=080166e502e83f42&amp;utm_source=chatgpt.com" TargetMode="External"/><Relationship Id="rId4" Type="http://schemas.openxmlformats.org/officeDocument/2006/relationships/hyperlink" Target="https://plan.research-data.no/pages/support_00_dmp_requirements?utm_source=chatgpt.com" TargetMode="External"/><Relationship Id="rId5" Type="http://schemas.openxmlformats.org/officeDocument/2006/relationships/hyperlink" Target="https://plan.research-data.no/pages/support_00_dmp_requirements?utm_source=chatgpt.com" TargetMode="External"/><Relationship Id="rId6" Type="http://schemas.openxmlformats.org/officeDocument/2006/relationships/hyperlink" Target="https://enspire.science/data-management-plan-in-horizon-europe/?utm_source=chatgpt.com" TargetMode="External"/><Relationship Id="rId7" Type="http://schemas.openxmlformats.org/officeDocument/2006/relationships/hyperlink" Target="https://en.wikipedia.org/wiki/Data_management_plan?utm_source=chatgpt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Data_management_plan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1142999" y="1124530"/>
            <a:ext cx="714274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/>
              <a:t>Propuesta trabajo en Grupo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M3.02-Data Life Cycle                    Fernando Aguilar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>
            <p:ph type="title"/>
          </p:nvPr>
        </p:nvSpPr>
        <p:spPr>
          <a:xfrm>
            <a:off x="633845" y="45720"/>
            <a:ext cx="78867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Trabajo en Grupo</a:t>
            </a:r>
            <a:endParaRPr/>
          </a:p>
        </p:txBody>
      </p:sp>
      <p:sp>
        <p:nvSpPr>
          <p:cNvPr id="42" name="Google Shape;42;p2"/>
          <p:cNvSpPr txBox="1"/>
          <p:nvPr>
            <p:ph idx="1" type="body"/>
          </p:nvPr>
        </p:nvSpPr>
        <p:spPr>
          <a:xfrm>
            <a:off x="628650" y="1042417"/>
            <a:ext cx="7886700" cy="50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60"/>
              <a:buChar char="●"/>
            </a:pPr>
            <a:r>
              <a:rPr b="1" lang="en-US" sz="2360"/>
              <a:t>Informe</a:t>
            </a:r>
            <a:r>
              <a:rPr lang="en-US" sz="2360"/>
              <a:t> + Presentación (Final de Enero)</a:t>
            </a:r>
            <a:endParaRPr sz="2127"/>
          </a:p>
          <a:p>
            <a:pPr indent="-14859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60"/>
              <a:buChar char="●"/>
            </a:pPr>
            <a:r>
              <a:rPr lang="en-US" sz="2360"/>
              <a:t>Punto de partida: Open Data (al menos </a:t>
            </a:r>
            <a:r>
              <a:rPr b="1" lang="en-US" sz="2460"/>
              <a:t>dos</a:t>
            </a:r>
            <a:r>
              <a:rPr lang="en-US" sz="2360"/>
              <a:t> fuentes diferentes)</a:t>
            </a:r>
            <a:endParaRPr sz="2127"/>
          </a:p>
          <a:p>
            <a:pPr indent="-17145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60"/>
              <a:buChar char="●"/>
            </a:pPr>
            <a:r>
              <a:rPr lang="en-US" sz="2360"/>
              <a:t>Descripción general del proyecto: objetivos, resultados esperados, requisitos, requerimientos técnicos…</a:t>
            </a:r>
            <a:endParaRPr sz="2127"/>
          </a:p>
          <a:p>
            <a:pPr indent="-17145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60"/>
              <a:buChar char="●"/>
            </a:pPr>
            <a:r>
              <a:rPr lang="en-US" sz="2360"/>
              <a:t>Descripción del problema:</a:t>
            </a:r>
            <a:endParaRPr sz="2127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Interés</a:t>
            </a:r>
            <a:endParaRPr sz="1895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Cobertura (geográfica, temporal). ¿Han limitado esta elección los datos disponibles?</a:t>
            </a:r>
            <a:endParaRPr sz="1895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Objetivos</a:t>
            </a:r>
            <a:endParaRPr sz="1895"/>
          </a:p>
          <a:p>
            <a:pPr indent="-17145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28"/>
              <a:buChar char="●"/>
            </a:pPr>
            <a:r>
              <a:rPr lang="en-US" sz="2127"/>
              <a:t>Descripción de las fuentes de datos:</a:t>
            </a:r>
            <a:endParaRPr sz="2127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Orígenes</a:t>
            </a:r>
            <a:endParaRPr sz="1895"/>
          </a:p>
          <a:p>
            <a:pPr indent="-1935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85"/>
              <a:buChar char="●"/>
            </a:pPr>
            <a:r>
              <a:rPr lang="en-US" sz="1895"/>
              <a:t>Formatos</a:t>
            </a:r>
            <a:endParaRPr sz="2360"/>
          </a:p>
          <a:p>
            <a:pPr indent="-17145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60"/>
              <a:buChar char="●"/>
            </a:pPr>
            <a:r>
              <a:rPr lang="en-US" sz="2360"/>
              <a:t>Realización del Data Management Plan</a:t>
            </a:r>
            <a:endParaRPr sz="2127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Asumiendo proyecto de 0 (Como si fueran datos generados)</a:t>
            </a:r>
            <a:endParaRPr sz="1895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Basado en la plantilla para proyectos de la Comisión Europea. Subconjunto en </a:t>
            </a:r>
            <a:r>
              <a:rPr lang="en-US" sz="1895"/>
              <a:t>últimas slides.</a:t>
            </a:r>
            <a:endParaRPr sz="1895"/>
          </a:p>
          <a:p>
            <a:pPr indent="-186055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95"/>
              <a:buChar char="●"/>
            </a:pPr>
            <a:r>
              <a:rPr lang="en-US" sz="1895"/>
              <a:t>Tener claro cuál sería el objetivo científico/técnico del proyecto</a:t>
            </a:r>
            <a:endParaRPr sz="1895"/>
          </a:p>
          <a:p>
            <a:pPr indent="-48133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t/>
            </a:r>
            <a:endParaRPr sz="2127"/>
          </a:p>
          <a:p>
            <a:pPr indent="-48133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t/>
            </a:r>
            <a:endParaRPr sz="2127"/>
          </a:p>
          <a:p>
            <a:pPr indent="-48133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t/>
            </a:r>
            <a:endParaRPr sz="2127"/>
          </a:p>
          <a:p>
            <a:pPr indent="-48133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t/>
            </a:r>
            <a:endParaRPr sz="2127"/>
          </a:p>
        </p:txBody>
      </p:sp>
      <p:sp>
        <p:nvSpPr>
          <p:cNvPr id="43" name="Google Shape;43;p2"/>
          <p:cNvSpPr txBox="1"/>
          <p:nvPr>
            <p:ph idx="12" type="sldNum"/>
          </p:nvPr>
        </p:nvSpPr>
        <p:spPr>
          <a:xfrm>
            <a:off x="7955279" y="6356351"/>
            <a:ext cx="5652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"/>
          <p:cNvSpPr txBox="1"/>
          <p:nvPr>
            <p:ph idx="11" type="ftr"/>
          </p:nvPr>
        </p:nvSpPr>
        <p:spPr>
          <a:xfrm>
            <a:off x="3028950" y="6356351"/>
            <a:ext cx="46337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M3.02-Data Life Cycle 	Fernando Aguilar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633845" y="45720"/>
            <a:ext cx="78867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Trabajo en Grupo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628650" y="1042417"/>
            <a:ext cx="7886700" cy="50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Diagrama Gantt/Distribución temporal (Teniendo en cuenta el Ciclo de vida de los datos)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Curar/Limpiar datos. Explicar técnicas utilizadas. Si el dataset está curado ya, plantear qué técnicas se han podido utilizar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Crear metadatos basados en Dublin Core, pero extendido (estándar? DataCite? uno ad-hoc?).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Incluir lista de parámetros utilizados, detalles del formato de fichero (suficientes para automatizar el procesado).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Metadatos del contexto (proyecto, creador, etc.)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Términos Dublin Core posibles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Plan de preservación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Análisis de los datos (Un par de gráficas diferentes), conclusiones.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Entregar: Informe con la descripción general, el diagrama temporal, detalles curación, plan de preservación y análisis. DMP. Documento metadatos.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7955279" y="6356351"/>
            <a:ext cx="5652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3"/>
          <p:cNvSpPr txBox="1"/>
          <p:nvPr>
            <p:ph idx="11" type="ftr"/>
          </p:nvPr>
        </p:nvSpPr>
        <p:spPr>
          <a:xfrm>
            <a:off x="3028950" y="6356351"/>
            <a:ext cx="46337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M3.02-Data Life Cycle 	Fernando Aguilar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7db589d05d_0_0"/>
          <p:cNvSpPr txBox="1"/>
          <p:nvPr>
            <p:ph type="title"/>
          </p:nvPr>
        </p:nvSpPr>
        <p:spPr>
          <a:xfrm>
            <a:off x="633845" y="45720"/>
            <a:ext cx="7886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Temas anteriores</a:t>
            </a:r>
            <a:endParaRPr/>
          </a:p>
        </p:txBody>
      </p:sp>
      <p:sp>
        <p:nvSpPr>
          <p:cNvPr id="59" name="Google Shape;59;g17db589d05d_0_0"/>
          <p:cNvSpPr txBox="1"/>
          <p:nvPr>
            <p:ph idx="1" type="body"/>
          </p:nvPr>
        </p:nvSpPr>
        <p:spPr>
          <a:xfrm>
            <a:off x="628650" y="1042417"/>
            <a:ext cx="7886700" cy="5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Datos de localizaciones de casas de apuestas y renta media de las zonas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Picos de consumo eléctrico y desempleo de un país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Bienestar/Salud mental en función del clima y horas de luz solar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Datos ambientales - cultivos.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Vegetación del terreno con la calidad de aire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Datos de enfermos por cáncer, con la presencia y actividad de fábricas en distintas zonas de España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Impacto del turismo en el precio del suelo urbano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Distancia recorrida por veh</a:t>
            </a:r>
            <a:r>
              <a:rPr lang="en-US"/>
              <a:t>ículos y contaminantes en Europa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Relación entre PIB y casos de Cáncer en el mundo</a:t>
            </a:r>
            <a:endParaRPr/>
          </a:p>
        </p:txBody>
      </p:sp>
      <p:sp>
        <p:nvSpPr>
          <p:cNvPr id="60" name="Google Shape;60;g17db589d05d_0_0"/>
          <p:cNvSpPr txBox="1"/>
          <p:nvPr>
            <p:ph idx="12" type="sldNum"/>
          </p:nvPr>
        </p:nvSpPr>
        <p:spPr>
          <a:xfrm>
            <a:off x="7955279" y="6356351"/>
            <a:ext cx="56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582f6c91_0_19"/>
          <p:cNvSpPr txBox="1"/>
          <p:nvPr>
            <p:ph type="title"/>
          </p:nvPr>
        </p:nvSpPr>
        <p:spPr>
          <a:xfrm>
            <a:off x="633845" y="45720"/>
            <a:ext cx="7886700" cy="80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Posibles temas</a:t>
            </a:r>
            <a:endParaRPr/>
          </a:p>
        </p:txBody>
      </p:sp>
      <p:sp>
        <p:nvSpPr>
          <p:cNvPr id="67" name="Google Shape;67;g3aa582f6c91_0_19"/>
          <p:cNvSpPr txBox="1"/>
          <p:nvPr>
            <p:ph idx="1" type="body"/>
          </p:nvPr>
        </p:nvSpPr>
        <p:spPr>
          <a:xfrm>
            <a:off x="628650" y="1042417"/>
            <a:ext cx="7886700" cy="500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Calidad de vida urbana y contaminaci</a:t>
            </a:r>
            <a:r>
              <a:rPr lang="en-US"/>
              <a:t>ón (Eurostat, OpenAQ)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Temperatura del mar y desastres naturales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Movilidad sostenible y meteorología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Accesibilidad sanitaria y problemas de salud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Islas de calor urbana, zonas verdes y calidad de vida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Obesidad y alimentación (productos, acceso a mercados,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Clima y accidentes de tráfico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Relación entre artículos y datasets en eventos extremos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68" name="Google Shape;68;g3aa582f6c91_0_19"/>
          <p:cNvSpPr txBox="1"/>
          <p:nvPr>
            <p:ph idx="12" type="sldNum"/>
          </p:nvPr>
        </p:nvSpPr>
        <p:spPr>
          <a:xfrm>
            <a:off x="7955279" y="6356351"/>
            <a:ext cx="565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582f6c91_0_0"/>
          <p:cNvSpPr txBox="1"/>
          <p:nvPr>
            <p:ph type="title"/>
          </p:nvPr>
        </p:nvSpPr>
        <p:spPr>
          <a:xfrm>
            <a:off x="633845" y="45720"/>
            <a:ext cx="7886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DMP</a:t>
            </a:r>
            <a:endParaRPr/>
          </a:p>
        </p:txBody>
      </p:sp>
      <p:sp>
        <p:nvSpPr>
          <p:cNvPr id="75" name="Google Shape;75;g3aa582f6c91_0_0"/>
          <p:cNvSpPr txBox="1"/>
          <p:nvPr>
            <p:ph idx="1" type="body"/>
          </p:nvPr>
        </p:nvSpPr>
        <p:spPr>
          <a:xfrm>
            <a:off x="628650" y="1042417"/>
            <a:ext cx="7886700" cy="5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7">
                <a:latin typeface="Arial"/>
                <a:ea typeface="Arial"/>
                <a:cs typeface="Arial"/>
                <a:sym typeface="Arial"/>
              </a:rPr>
              <a:t>Resumen de datos / Descripción general del proyecto &amp; datos</a:t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Tipo de datos a generar o usar (crudos, procesados, modelos, resultados, metadatos, etc.).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Volumen estimado / tamaño aproximado de los datos.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Origen de los datos (nuevos, reutilizados, de fuentes externas) y finalidad.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Potencial de reutilización fuera del proyecto.</a:t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57">
                <a:latin typeface="Arial"/>
                <a:ea typeface="Arial"/>
                <a:cs typeface="Arial"/>
                <a:sym typeface="Arial"/>
              </a:rPr>
              <a:t>Principios FAIR y compartición / acceso a los datos</a:t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Repositorio(s) donde se depositarán los datos, posibles identificadores persistentes (DOI, URIs), esquema o estándar de metadatos utilizado.</a:t>
            </a:r>
            <a:r>
              <a:rPr lang="en-US" sz="1857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Políticas de acceso: abierto por defecto, salvo excepciones (“as open as possible, as closed as necessary”).</a:t>
            </a:r>
            <a:r>
              <a:rPr lang="en-US" sz="1857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Licencias para la reutilización (por ejemplo, licencias tipo CC-BY, CC0, u otras según normativa del proyecto).</a:t>
            </a:r>
            <a:r>
              <a:rPr lang="en-US" sz="1857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57">
                <a:latin typeface="Arial"/>
                <a:ea typeface="Arial"/>
                <a:cs typeface="Arial"/>
                <a:sym typeface="Arial"/>
              </a:rPr>
              <a:t>Gestión de curación, preservación y almacenamiento</a:t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Dónde se almacenarán los datos durante el proyecto (servidores, repositorios, backups, copias de seguridad) y su </a:t>
            </a:r>
            <a:r>
              <a:rPr lang="en-US" sz="1857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57">
                <a:latin typeface="Arial"/>
                <a:ea typeface="Arial"/>
                <a:cs typeface="Arial"/>
                <a:sym typeface="Arial"/>
              </a:rPr>
              <a:t>reservación a largo plazo.</a:t>
            </a:r>
            <a:endParaRPr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Persona(s) o entidad(s) responsables de la gestión de datos / curación de metadatos.</a:t>
            </a:r>
            <a:endParaRPr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Estimación de los costes y recursos necesarios para almacenamiento, mantenimiento, backups, gestión de datos.</a:t>
            </a:r>
            <a:r>
              <a:rPr lang="en-US" sz="1857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 </a:t>
            </a:r>
            <a:endParaRPr sz="285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7">
                <a:latin typeface="Arial"/>
                <a:ea typeface="Arial"/>
                <a:cs typeface="Arial"/>
                <a:sym typeface="Arial"/>
              </a:rPr>
              <a:t>Documentación, metadatos y estándares (interoperabilidad)</a:t>
            </a:r>
            <a:endParaRPr b="1" sz="1857"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Estructura de metadatos: qué estándares, vocabularios o esquemas se usarán (formatos de archivo, metadatos describiendo contexto, métodos, variables, etc.).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47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Convenciones de nomenclatura, versionado de datos, trazabilidad, registro de cambios y documentación del “workflow” de procesamiento.</a:t>
            </a:r>
            <a:endParaRPr sz="1857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9214"/>
              <a:buFont typeface="Arial"/>
              <a:buChar char="●"/>
            </a:pPr>
            <a:r>
              <a:rPr lang="en-US" sz="1857">
                <a:latin typeface="Arial"/>
                <a:ea typeface="Arial"/>
                <a:cs typeface="Arial"/>
                <a:sym typeface="Arial"/>
              </a:rPr>
              <a:t>Plan de control de calidad — cómo se verificará validez, integridad y consistencia de los datos.</a:t>
            </a:r>
            <a:b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a582f6c91_0_0"/>
          <p:cNvSpPr txBox="1"/>
          <p:nvPr>
            <p:ph idx="12" type="sldNum"/>
          </p:nvPr>
        </p:nvSpPr>
        <p:spPr>
          <a:xfrm>
            <a:off x="7955279" y="6356351"/>
            <a:ext cx="56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582f6c91_0_12"/>
          <p:cNvSpPr txBox="1"/>
          <p:nvPr>
            <p:ph type="title"/>
          </p:nvPr>
        </p:nvSpPr>
        <p:spPr>
          <a:xfrm>
            <a:off x="633845" y="45720"/>
            <a:ext cx="7886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DMP</a:t>
            </a:r>
            <a:endParaRPr/>
          </a:p>
        </p:txBody>
      </p:sp>
      <p:sp>
        <p:nvSpPr>
          <p:cNvPr id="83" name="Google Shape;83;g3aa582f6c91_0_12"/>
          <p:cNvSpPr txBox="1"/>
          <p:nvPr>
            <p:ph idx="1" type="body"/>
          </p:nvPr>
        </p:nvSpPr>
        <p:spPr>
          <a:xfrm>
            <a:off x="628650" y="1042417"/>
            <a:ext cx="7886700" cy="5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Aspectos éticos, legales y de privacidad (si aplica)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Protección de datos personales o sensibles, cumplimiento de normativas (privacidad, GDPR, etc.).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Derechos de propiedad intelectual, licencias, permisos de reutilización, restricciones de acceso si las hubiese.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Política de acceso y difusión / reutilización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Cuándo y cómo se hará público el acceso a los datos (inmediato, tras embargo, tras publicación, etc.).</a:t>
            </a:r>
            <a:b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a582f6c91_0_12"/>
          <p:cNvSpPr txBox="1"/>
          <p:nvPr>
            <p:ph idx="12" type="sldNum"/>
          </p:nvPr>
        </p:nvSpPr>
        <p:spPr>
          <a:xfrm>
            <a:off x="7955279" y="6356351"/>
            <a:ext cx="56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2017-09-17T09:38:06Z</dcterms:created>
  <dc:creator>Jesus</dc:creator>
</cp:coreProperties>
</file>